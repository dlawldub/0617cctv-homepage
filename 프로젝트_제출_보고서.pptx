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9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010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6A021-A926-5631-45C4-8B0106255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0BDF0-70B3-DFEB-6F37-D21ECE121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900C8-1C85-4193-D6DC-D5FF5C4EC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7042B2-7A65-6E0D-2A68-49E16F7B5F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6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81328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455676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프로젝트 제출 보고서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4160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4FCF"/>
                </a:solidFill>
              </a:rPr>
              <a:t>이름 (NAME)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3440" y="1719072"/>
            <a:ext cx="4160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4FCF"/>
                </a:solidFill>
              </a:rPr>
              <a:t>소속 / 부서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387626" y="1920240"/>
            <a:ext cx="4047214" cy="457200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870B0"/>
                </a:solidFill>
              </a:rPr>
              <a:t>임재영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709160" y="1920240"/>
            <a:ext cx="4069080" cy="457200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870B0"/>
                </a:solidFill>
              </a:rPr>
              <a:t>스마트도시과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514600"/>
            <a:ext cx="4160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4FCF"/>
                </a:solidFill>
              </a:rPr>
              <a:t>프로젝트 주제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3440" y="2514600"/>
            <a:ext cx="41605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4FCF"/>
                </a:solidFill>
              </a:rPr>
              <a:t>제출 일자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71576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715768"/>
            <a:ext cx="4069080" cy="457200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유지보수 정보 공유 플랫폼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715768"/>
            <a:ext cx="4160520" cy="457200"/>
          </a:xfrm>
          <a:prstGeom prst="roundRect">
            <a:avLst>
              <a:gd name="adj" fmla="val 10000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709160" y="2715768"/>
            <a:ext cx="4069080" cy="457200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870B0"/>
                </a:solidFill>
              </a:rPr>
              <a:t>26. 06. 17.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310128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B4FCF"/>
                </a:solidFill>
              </a:rPr>
              <a:t>한 줄 요약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511296"/>
            <a:ext cx="8503920" cy="676656"/>
          </a:xfrm>
          <a:prstGeom prst="roundRect">
            <a:avLst>
              <a:gd name="adj" fmla="val 6757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3511296"/>
            <a:ext cx="8412480" cy="676656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7870B0"/>
                </a:solidFill>
              </a:rPr>
              <a:t>이</a:t>
            </a:r>
            <a:r>
              <a:rPr lang="en-US" sz="1000" dirty="0">
                <a:solidFill>
                  <a:srgbClr val="7870B0"/>
                </a:solidFill>
              </a:rPr>
              <a:t> </a:t>
            </a:r>
            <a:r>
              <a:rPr lang="ko-KR" altLang="en-US" sz="1000" dirty="0">
                <a:solidFill>
                  <a:srgbClr val="7870B0"/>
                </a:solidFill>
              </a:rPr>
              <a:t> </a:t>
            </a:r>
            <a:r>
              <a:rPr lang="en-US" sz="1000" dirty="0">
                <a:solidFill>
                  <a:srgbClr val="7870B0"/>
                </a:solidFill>
              </a:rPr>
              <a:t>AI </a:t>
            </a:r>
            <a:r>
              <a:rPr lang="ko-KR" altLang="en-US" sz="1000" dirty="0">
                <a:solidFill>
                  <a:srgbClr val="7870B0"/>
                </a:solidFill>
              </a:rPr>
              <a:t>서비스</a:t>
            </a:r>
            <a:r>
              <a:rPr lang="en-US" sz="1000" dirty="0">
                <a:solidFill>
                  <a:srgbClr val="7870B0"/>
                </a:solidFill>
              </a:rPr>
              <a:t>는 </a:t>
            </a: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유지보수의 효율적 운영을 위한 정보 공유</a:t>
            </a:r>
            <a:r>
              <a:rPr lang="en-US" sz="1000" dirty="0">
                <a:solidFill>
                  <a:srgbClr val="7870B0"/>
                </a:solidFill>
              </a:rPr>
              <a:t> 서비스입니다.</a:t>
            </a:r>
            <a:endParaRPr lang="en-US" sz="1000" dirty="0"/>
          </a:p>
        </p:txBody>
      </p:sp>
      <p:pic>
        <p:nvPicPr>
          <p:cNvPr id="22" name="그림 21" descr="스크린샷, 그래픽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47A5D9-4BDA-3D59-7F38-52AEC007A2B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055" y="71503"/>
            <a:ext cx="1262372" cy="3155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0040" y="105156"/>
            <a:ext cx="804672" cy="228600"/>
          </a:xfrm>
          <a:prstGeom prst="roundRect">
            <a:avLst>
              <a:gd name="adj" fmla="val 48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10515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📌 Step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97864" y="91440"/>
            <a:ext cx="7854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어떤 문제를 겪고 있나요?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85039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73380" y="4922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🔍  업무의 불편함</a:t>
            </a:r>
            <a:endParaRPr lang="en-US" sz="1100" b="1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850392"/>
          </a:xfrm>
          <a:prstGeom prst="roundRect">
            <a:avLst>
              <a:gd name="adj" fmla="val 5376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868680"/>
            <a:ext cx="8412480" cy="850392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데이터</a:t>
            </a:r>
            <a:r>
              <a:rPr lang="en-US" altLang="ko-KR" sz="1000" dirty="0">
                <a:solidFill>
                  <a:srgbClr val="7870B0"/>
                </a:solidFill>
              </a:rPr>
              <a:t>(</a:t>
            </a:r>
            <a:r>
              <a:rPr lang="ko-KR" altLang="en-US" sz="1000" dirty="0">
                <a:solidFill>
                  <a:srgbClr val="7870B0"/>
                </a:solidFill>
              </a:rPr>
              <a:t>장애현황</a:t>
            </a:r>
            <a:r>
              <a:rPr lang="en-US" altLang="ko-KR" sz="1000" dirty="0">
                <a:solidFill>
                  <a:srgbClr val="7870B0"/>
                </a:solidFill>
              </a:rPr>
              <a:t>, </a:t>
            </a:r>
            <a:r>
              <a:rPr lang="ko-KR" altLang="en-US" sz="1000" dirty="0">
                <a:solidFill>
                  <a:srgbClr val="7870B0"/>
                </a:solidFill>
              </a:rPr>
              <a:t>운영현황</a:t>
            </a:r>
            <a:r>
              <a:rPr lang="en-US" altLang="ko-KR" sz="1000" dirty="0">
                <a:solidFill>
                  <a:srgbClr val="7870B0"/>
                </a:solidFill>
              </a:rPr>
              <a:t>, </a:t>
            </a:r>
            <a:r>
              <a:rPr lang="ko-KR" altLang="en-US" sz="1000" dirty="0">
                <a:solidFill>
                  <a:srgbClr val="7870B0"/>
                </a:solidFill>
              </a:rPr>
              <a:t>위치 등</a:t>
            </a:r>
            <a:r>
              <a:rPr lang="en-US" altLang="ko-KR" sz="1000" dirty="0">
                <a:solidFill>
                  <a:srgbClr val="7870B0"/>
                </a:solidFill>
              </a:rPr>
              <a:t>)</a:t>
            </a:r>
            <a:r>
              <a:rPr lang="ko-KR" altLang="en-US" sz="1000" dirty="0">
                <a:solidFill>
                  <a:srgbClr val="7870B0"/>
                </a:solidFill>
              </a:rPr>
              <a:t>의 통계자료가 필요하나 매번 필요시 수동으로 데이터를 수집함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47088"/>
            <a:ext cx="41605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18013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📋  문제 상황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185416"/>
            <a:ext cx="4160520" cy="2688336"/>
          </a:xfrm>
          <a:prstGeom prst="roundRect">
            <a:avLst>
              <a:gd name="adj" fmla="val 1701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760" y="2185416"/>
            <a:ext cx="4069080" cy="2688336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운영 현황에 대한 주기적인 자료 제출 요청</a:t>
            </a:r>
            <a:endParaRPr lang="en-US" altLang="ko-KR" sz="1000" dirty="0">
              <a:solidFill>
                <a:srgbClr val="7870B0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847088"/>
            <a:ext cx="41605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>
              <a:latin typeface="+mj-ea"/>
              <a:ea typeface="+mj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09160" y="18013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⏱️  영향 / 빈도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63440" y="2185416"/>
            <a:ext cx="4160520" cy="2688336"/>
          </a:xfrm>
          <a:prstGeom prst="roundRect">
            <a:avLst>
              <a:gd name="adj" fmla="val 1701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09160" y="2185416"/>
            <a:ext cx="4069080" cy="2688336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870B0"/>
                </a:solidFill>
              </a:rPr>
              <a:t>매달 </a:t>
            </a:r>
            <a:r>
              <a:rPr lang="en-US" altLang="ko-KR" sz="1000" dirty="0">
                <a:solidFill>
                  <a:srgbClr val="7870B0"/>
                </a:solidFill>
              </a:rPr>
              <a:t>1,2</a:t>
            </a:r>
            <a:r>
              <a:rPr lang="ko-KR" altLang="en-US" sz="1000" dirty="0">
                <a:solidFill>
                  <a:srgbClr val="7870B0"/>
                </a:solidFill>
              </a:rPr>
              <a:t>건 제출 필요</a:t>
            </a:r>
            <a:endParaRPr lang="en-US" sz="1000" dirty="0"/>
          </a:p>
        </p:txBody>
      </p:sp>
      <p:pic>
        <p:nvPicPr>
          <p:cNvPr id="18" name="그림 17" descr="스크린샷, 그래픽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1E6555-E5B3-2C85-8475-054B40FD69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055" y="71503"/>
            <a:ext cx="1262372" cy="3155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0040" y="105156"/>
            <a:ext cx="804672" cy="228600"/>
          </a:xfrm>
          <a:prstGeom prst="roundRect">
            <a:avLst>
              <a:gd name="adj" fmla="val 48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10515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📌 Step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97864" y="91440"/>
            <a:ext cx="7854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문제를 해결하기 위해 어떤 주제를 생각하셨나요?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85039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4846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🎯  목표 주제 / 서비스명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777240"/>
          </a:xfrm>
          <a:prstGeom prst="roundRect">
            <a:avLst>
              <a:gd name="adj" fmla="val 5882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유지보수의 효율적 운영을 위한 정보 공유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41605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1728216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✅  핵심 기능 (구현 예정)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2112264"/>
            <a:ext cx="4160520" cy="2761488"/>
          </a:xfrm>
          <a:prstGeom prst="roundRect">
            <a:avLst>
              <a:gd name="adj" fmla="val 1656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65760" y="2112264"/>
            <a:ext cx="4069080" cy="2761488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en-US" sz="1000" dirty="0" err="1">
                <a:solidFill>
                  <a:srgbClr val="7870B0"/>
                </a:solidFill>
              </a:rPr>
              <a:t>기능</a:t>
            </a:r>
            <a:r>
              <a:rPr lang="en-US" sz="1000" dirty="0">
                <a:solidFill>
                  <a:srgbClr val="7870B0"/>
                </a:solidFill>
              </a:rPr>
              <a:t> 1 : </a:t>
            </a: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설치 위치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70B0"/>
                </a:solidFill>
              </a:rPr>
              <a:t>기능 2 : </a:t>
            </a: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설치 현황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870B0"/>
                </a:solidFill>
              </a:rPr>
              <a:t>기능 3 : </a:t>
            </a: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장애현황</a:t>
            </a:r>
            <a:endParaRPr lang="en-US" altLang="ko-KR" sz="1000" dirty="0">
              <a:solidFill>
                <a:srgbClr val="7870B0"/>
              </a:solidFill>
            </a:endParaRPr>
          </a:p>
          <a:p>
            <a:r>
              <a:rPr lang="en-US" altLang="ko-KR" sz="1000" dirty="0" err="1">
                <a:solidFill>
                  <a:srgbClr val="7870B0"/>
                </a:solidFill>
              </a:rPr>
              <a:t>기능</a:t>
            </a:r>
            <a:r>
              <a:rPr lang="en-US" altLang="ko-KR" sz="1000" dirty="0">
                <a:solidFill>
                  <a:srgbClr val="7870B0"/>
                </a:solidFill>
              </a:rPr>
              <a:t> 4 : </a:t>
            </a: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 err="1">
                <a:solidFill>
                  <a:srgbClr val="7870B0"/>
                </a:solidFill>
              </a:rPr>
              <a:t>동별</a:t>
            </a:r>
            <a:r>
              <a:rPr lang="ko-KR" altLang="en-US" sz="1000" dirty="0">
                <a:solidFill>
                  <a:srgbClr val="7870B0"/>
                </a:solidFill>
              </a:rPr>
              <a:t> 설치현황</a:t>
            </a:r>
            <a:br>
              <a:rPr lang="en-US" altLang="ko-KR" sz="1000" dirty="0">
                <a:solidFill>
                  <a:srgbClr val="7870B0"/>
                </a:solidFill>
              </a:rPr>
            </a:br>
            <a:r>
              <a:rPr lang="en-US" altLang="ko-KR" sz="1000" dirty="0" err="1">
                <a:solidFill>
                  <a:srgbClr val="7870B0"/>
                </a:solidFill>
              </a:rPr>
              <a:t>기능</a:t>
            </a:r>
            <a:r>
              <a:rPr lang="en-US" altLang="ko-KR" sz="1000" dirty="0">
                <a:solidFill>
                  <a:srgbClr val="7870B0"/>
                </a:solidFill>
              </a:rPr>
              <a:t> 5 : </a:t>
            </a: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연도별 설치현황</a:t>
            </a:r>
            <a:endParaRPr lang="en-US" altLang="ko-KR" sz="1000" dirty="0"/>
          </a:p>
          <a:p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773936"/>
            <a:ext cx="41605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1728216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💡  기대 효과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63440" y="2112264"/>
            <a:ext cx="4160520" cy="2761488"/>
          </a:xfrm>
          <a:prstGeom prst="roundRect">
            <a:avLst>
              <a:gd name="adj" fmla="val 1656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09160" y="2112264"/>
            <a:ext cx="4069080" cy="2761488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r>
              <a:rPr lang="en-US" altLang="ko-KR" sz="1000" dirty="0">
                <a:solidFill>
                  <a:srgbClr val="7870B0"/>
                </a:solidFill>
              </a:rPr>
              <a:t>- </a:t>
            </a: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통계 자료 제출 요청 시 즉각적인 대응 가능</a:t>
            </a:r>
            <a:endParaRPr lang="en-US" altLang="ko-KR" sz="1000" dirty="0">
              <a:solidFill>
                <a:srgbClr val="7870B0"/>
              </a:solidFill>
            </a:endParaRPr>
          </a:p>
          <a:p>
            <a:r>
              <a:rPr lang="en-US" sz="1000" dirty="0">
                <a:solidFill>
                  <a:srgbClr val="7870B0"/>
                </a:solidFill>
              </a:rPr>
              <a:t>- </a:t>
            </a:r>
            <a:r>
              <a:rPr lang="ko-KR" altLang="en-US" sz="1000" dirty="0">
                <a:solidFill>
                  <a:srgbClr val="7870B0"/>
                </a:solidFill>
              </a:rPr>
              <a:t>방범</a:t>
            </a:r>
            <a:r>
              <a:rPr lang="en-US" altLang="ko-KR" sz="1000" dirty="0">
                <a:solidFill>
                  <a:srgbClr val="7870B0"/>
                </a:solidFill>
              </a:rPr>
              <a:t>CCTV </a:t>
            </a:r>
            <a:r>
              <a:rPr lang="ko-KR" altLang="en-US" sz="1000" dirty="0">
                <a:solidFill>
                  <a:srgbClr val="7870B0"/>
                </a:solidFill>
              </a:rPr>
              <a:t>현안 사항 즉각 공유 가능</a:t>
            </a:r>
            <a:endParaRPr lang="en-US" sz="1000" dirty="0"/>
          </a:p>
        </p:txBody>
      </p:sp>
      <p:pic>
        <p:nvPicPr>
          <p:cNvPr id="18" name="그림 17" descr="스크린샷, 그래픽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9E91CE-1C2A-9DD2-E81A-C10E3AA1580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055" y="71503"/>
            <a:ext cx="1262372" cy="3155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0040" y="105156"/>
            <a:ext cx="804672" cy="228600"/>
          </a:xfrm>
          <a:prstGeom prst="roundRect">
            <a:avLst>
              <a:gd name="adj" fmla="val 48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10515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📌 Step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97864" y="91440"/>
            <a:ext cx="7854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본인의 진척도 (앞으로 더 개선해 볼 수 있는 부분)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41605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6240" y="4922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📊  기능별 완성도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160520" cy="4005072"/>
          </a:xfrm>
          <a:prstGeom prst="roundRect">
            <a:avLst>
              <a:gd name="adj" fmla="val 1142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06984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000" b="1" dirty="0">
                <a:solidFill>
                  <a:srgbClr val="5B4FCF"/>
                </a:solidFill>
              </a:rPr>
              <a:t>방범</a:t>
            </a:r>
            <a:r>
              <a:rPr lang="en-US" altLang="ko-KR" sz="1000" b="1" dirty="0">
                <a:solidFill>
                  <a:srgbClr val="5B4FCF"/>
                </a:solidFill>
              </a:rPr>
              <a:t>CCTV </a:t>
            </a:r>
            <a:r>
              <a:rPr lang="ko-KR" altLang="en-US" sz="1000" b="1" dirty="0">
                <a:solidFill>
                  <a:srgbClr val="5B4FCF"/>
                </a:solidFill>
              </a:rPr>
              <a:t>유지보수 정보 공유 플랫폼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3886200" cy="146304"/>
          </a:xfrm>
          <a:prstGeom prst="roundRect">
            <a:avLst>
              <a:gd name="adj" fmla="val 50000"/>
            </a:avLst>
          </a:prstGeom>
          <a:solidFill>
            <a:srgbClr val="D8D6F5"/>
          </a:solidFill>
          <a:ln w="12700">
            <a:solidFill>
              <a:srgbClr val="D8D6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1133061" cy="146304"/>
          </a:xfrm>
          <a:prstGeom prst="roundRect">
            <a:avLst>
              <a:gd name="adj" fmla="val 50000"/>
            </a:avLst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1545336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9994CC"/>
                </a:solidFill>
              </a:rPr>
              <a:t>완성도를 직접 조정하세요 (</a:t>
            </a:r>
            <a:r>
              <a:rPr lang="en-US" sz="900" i="1" dirty="0" err="1">
                <a:solidFill>
                  <a:srgbClr val="9994CC"/>
                </a:solidFill>
              </a:rPr>
              <a:t>현재</a:t>
            </a:r>
            <a:r>
              <a:rPr lang="en-US" sz="900" i="1" dirty="0">
                <a:solidFill>
                  <a:srgbClr val="9994CC"/>
                </a:solidFill>
              </a:rPr>
              <a:t> 30%)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530352"/>
            <a:ext cx="41605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739640" y="4922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🚀  앞으로 개선할 부분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868680"/>
            <a:ext cx="4160520" cy="4005072"/>
          </a:xfrm>
          <a:prstGeom prst="roundRect">
            <a:avLst>
              <a:gd name="adj" fmla="val 1142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09160" y="868680"/>
            <a:ext cx="4069080" cy="4005072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7870B0"/>
                </a:solidFill>
              </a:rPr>
              <a:t>· </a:t>
            </a:r>
            <a:r>
              <a:rPr lang="ko-KR" altLang="en-US" sz="1000" i="1" dirty="0">
                <a:solidFill>
                  <a:srgbClr val="7870B0"/>
                </a:solidFill>
              </a:rPr>
              <a:t>실제 관리대장 자료를 업데이트해서 실제 데이터를 업데이트 해야함</a:t>
            </a:r>
            <a:r>
              <a:rPr lang="en-US" altLang="ko-KR" sz="1000" i="1" dirty="0">
                <a:solidFill>
                  <a:srgbClr val="7870B0"/>
                </a:solidFill>
              </a:rPr>
              <a:t>.</a:t>
            </a:r>
          </a:p>
          <a:p>
            <a:pPr marL="0" indent="0">
              <a:buNone/>
            </a:pPr>
            <a:br>
              <a:rPr lang="en-US" altLang="ko-KR" sz="1000" i="1" dirty="0">
                <a:solidFill>
                  <a:srgbClr val="7870B0"/>
                </a:solidFill>
              </a:rPr>
            </a:br>
            <a:r>
              <a:rPr lang="en-US" sz="1000" i="1" dirty="0">
                <a:solidFill>
                  <a:srgbClr val="7870B0"/>
                </a:solidFill>
              </a:rPr>
              <a:t>· </a:t>
            </a:r>
            <a:r>
              <a:rPr lang="ko-KR" altLang="en-US" sz="1000" i="1" dirty="0">
                <a:solidFill>
                  <a:srgbClr val="7870B0"/>
                </a:solidFill>
              </a:rPr>
              <a:t>부서 내 직원</a:t>
            </a:r>
            <a:r>
              <a:rPr lang="en-US" altLang="ko-KR" sz="1000" i="1" dirty="0">
                <a:solidFill>
                  <a:srgbClr val="7870B0"/>
                </a:solidFill>
              </a:rPr>
              <a:t>, </a:t>
            </a:r>
            <a:r>
              <a:rPr lang="ko-KR" altLang="en-US" sz="1000" i="1" dirty="0">
                <a:solidFill>
                  <a:srgbClr val="7870B0"/>
                </a:solidFill>
              </a:rPr>
              <a:t>유지보수 업체 간 효율적인 방범</a:t>
            </a:r>
            <a:r>
              <a:rPr lang="en-US" altLang="ko-KR" sz="1000" i="1" dirty="0">
                <a:solidFill>
                  <a:srgbClr val="7870B0"/>
                </a:solidFill>
              </a:rPr>
              <a:t>CCTV </a:t>
            </a:r>
            <a:r>
              <a:rPr lang="ko-KR" altLang="en-US" sz="1000" i="1" dirty="0">
                <a:solidFill>
                  <a:srgbClr val="7870B0"/>
                </a:solidFill>
              </a:rPr>
              <a:t>운영을 의한 컨텐츠 추가 필요</a:t>
            </a:r>
            <a:endParaRPr lang="en-US" sz="1000" dirty="0"/>
          </a:p>
        </p:txBody>
      </p:sp>
      <p:pic>
        <p:nvPicPr>
          <p:cNvPr id="17" name="그림 16" descr="스크린샷, 그래픽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8F5BFB-F715-CE31-81E5-02EFBEB1E76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055" y="71503"/>
            <a:ext cx="1262372" cy="3155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320040" y="105156"/>
            <a:ext cx="804672" cy="228600"/>
          </a:xfrm>
          <a:prstGeom prst="roundRect">
            <a:avLst>
              <a:gd name="adj" fmla="val 48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20040" y="10515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📌 Step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97864" y="91440"/>
            <a:ext cx="7854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스크린샷 캡쳐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41605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96240" y="4922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🖥️  메인 화면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160520" cy="2423160"/>
          </a:xfrm>
          <a:prstGeom prst="roundRect">
            <a:avLst>
              <a:gd name="adj" fmla="val 1887"/>
            </a:avLst>
          </a:prstGeom>
          <a:solidFill>
            <a:srgbClr val="F4F5FF"/>
          </a:solidFill>
          <a:ln w="19050">
            <a:solidFill>
              <a:srgbClr val="A9A5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20040" y="868680"/>
            <a:ext cx="41605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0BF"/>
                </a:solidFill>
              </a:rPr>
              <a:t>📎 스크린샷을 붙여넣기 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0BF"/>
                </a:solidFill>
              </a:rPr>
              <a:t>이미지를 삽입해주세요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530352"/>
            <a:ext cx="41605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39640" y="4922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⚙️  주요 기능 화면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4160520" cy="2423160"/>
          </a:xfrm>
          <a:prstGeom prst="roundRect">
            <a:avLst>
              <a:gd name="adj" fmla="val 1887"/>
            </a:avLst>
          </a:prstGeom>
          <a:solidFill>
            <a:srgbClr val="F4F5FF"/>
          </a:solidFill>
          <a:ln w="19050">
            <a:solidFill>
              <a:srgbClr val="A9A5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63440" y="868680"/>
            <a:ext cx="41605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0BF"/>
                </a:solidFill>
              </a:rPr>
              <a:t>📎 스크린샷을 붙여넣기 하거나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0BF"/>
                </a:solidFill>
              </a:rPr>
              <a:t>이미지를 삽입해주세요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19856"/>
            <a:ext cx="85039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96240" y="3381756"/>
            <a:ext cx="85039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📝  화면 설명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" y="3758184"/>
            <a:ext cx="8503920" cy="1115568"/>
          </a:xfrm>
          <a:prstGeom prst="roundRect">
            <a:avLst>
              <a:gd name="adj" fmla="val 4098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65760" y="3758184"/>
            <a:ext cx="8412480" cy="1115568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ko-KR" altLang="en-US" sz="1000" i="1" dirty="0">
                <a:solidFill>
                  <a:srgbClr val="7870B0"/>
                </a:solidFill>
              </a:rPr>
              <a:t>방범</a:t>
            </a:r>
            <a:r>
              <a:rPr lang="en-US" altLang="ko-KR" sz="1000" i="1" dirty="0">
                <a:solidFill>
                  <a:srgbClr val="7870B0"/>
                </a:solidFill>
              </a:rPr>
              <a:t>CCTV </a:t>
            </a:r>
            <a:r>
              <a:rPr lang="ko-KR" altLang="en-US" sz="1000" i="1" dirty="0">
                <a:solidFill>
                  <a:srgbClr val="7870B0"/>
                </a:solidFill>
              </a:rPr>
              <a:t>운영 위치 확인 가능</a:t>
            </a:r>
            <a:r>
              <a:rPr lang="en-US" altLang="ko-KR" sz="1000" i="1" dirty="0">
                <a:solidFill>
                  <a:srgbClr val="7870B0"/>
                </a:solidFill>
              </a:rPr>
              <a:t>, </a:t>
            </a:r>
            <a:r>
              <a:rPr lang="ko-KR" altLang="en-US" sz="1000" i="1" dirty="0">
                <a:solidFill>
                  <a:srgbClr val="7870B0"/>
                </a:solidFill>
              </a:rPr>
              <a:t>장애 현황 파악</a:t>
            </a:r>
            <a:endParaRPr lang="en-US" sz="1000" dirty="0"/>
          </a:p>
        </p:txBody>
      </p:sp>
      <p:pic>
        <p:nvPicPr>
          <p:cNvPr id="18" name="그림 17" descr="스크린샷, 그래픽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3C0383-574A-76F8-35F9-A469710475A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055" y="71503"/>
            <a:ext cx="1262372" cy="31559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9E5A0DE-9683-4D79-B278-5A678AD1B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842772"/>
            <a:ext cx="3114373" cy="244247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A97F656-C5D8-4DB6-B46F-5E933BE8F4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1785" y="934775"/>
            <a:ext cx="3776230" cy="2290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0FB4-3BF9-4D4A-9D14-E2E4F714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1A5423-BE63-7C2B-D62B-9670BE55B3AC}"/>
              </a:ext>
            </a:extLst>
          </p:cNvPr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37B79A-FF05-3850-5342-E0FCE9E861E5}"/>
              </a:ext>
            </a:extLst>
          </p:cNvPr>
          <p:cNvSpPr/>
          <p:nvPr/>
        </p:nvSpPr>
        <p:spPr>
          <a:xfrm>
            <a:off x="320040" y="105156"/>
            <a:ext cx="804672" cy="228600"/>
          </a:xfrm>
          <a:prstGeom prst="roundRect">
            <a:avLst>
              <a:gd name="adj" fmla="val 48000"/>
            </a:avLst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3653E9-30B9-7BE3-C6BE-482F1063003B}"/>
              </a:ext>
            </a:extLst>
          </p:cNvPr>
          <p:cNvSpPr/>
          <p:nvPr/>
        </p:nvSpPr>
        <p:spPr>
          <a:xfrm>
            <a:off x="320040" y="105156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📌 Step </a:t>
            </a:r>
            <a:r>
              <a:rPr lang="en-US" altLang="ko-KR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D780F97-3663-3E20-ADFD-D6CBFC8B8347}"/>
              </a:ext>
            </a:extLst>
          </p:cNvPr>
          <p:cNvSpPr/>
          <p:nvPr/>
        </p:nvSpPr>
        <p:spPr>
          <a:xfrm>
            <a:off x="1197864" y="91440"/>
            <a:ext cx="7854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FFFFF"/>
                </a:solidFill>
              </a:rPr>
              <a:t>프로젝트 주소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C310145-2CEE-7248-E6F9-6AA985B9B6D1}"/>
              </a:ext>
            </a:extLst>
          </p:cNvPr>
          <p:cNvSpPr/>
          <p:nvPr/>
        </p:nvSpPr>
        <p:spPr>
          <a:xfrm>
            <a:off x="320040" y="530352"/>
            <a:ext cx="41605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8F7B882-E750-F54E-2067-99329F0318CD}"/>
              </a:ext>
            </a:extLst>
          </p:cNvPr>
          <p:cNvSpPr/>
          <p:nvPr/>
        </p:nvSpPr>
        <p:spPr>
          <a:xfrm>
            <a:off x="396240" y="4922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🛜 </a:t>
            </a:r>
            <a:r>
              <a:rPr lang="ko-KR" altLang="en-US" sz="1100" b="1" dirty="0">
                <a:solidFill>
                  <a:srgbClr val="FFFFFF"/>
                </a:solidFill>
                <a:latin typeface="+mj-ea"/>
                <a:ea typeface="+mj-ea"/>
              </a:rPr>
              <a:t>프로젝트 주소 </a:t>
            </a:r>
            <a:r>
              <a:rPr lang="en-US" altLang="ko-KR" sz="1100" b="1" dirty="0">
                <a:solidFill>
                  <a:srgbClr val="FFFFFF"/>
                </a:solidFill>
                <a:latin typeface="+mj-ea"/>
                <a:ea typeface="+mj-ea"/>
              </a:rPr>
              <a:t>QR</a:t>
            </a:r>
            <a:r>
              <a:rPr lang="ko-KR" altLang="en-US" sz="1100" b="1" dirty="0">
                <a:solidFill>
                  <a:srgbClr val="FFFFFF"/>
                </a:solidFill>
                <a:latin typeface="+mj-ea"/>
                <a:ea typeface="+mj-ea"/>
              </a:rPr>
              <a:t> 코드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D654C07-E4C8-B4AB-EBAF-010281359246}"/>
              </a:ext>
            </a:extLst>
          </p:cNvPr>
          <p:cNvSpPr/>
          <p:nvPr/>
        </p:nvSpPr>
        <p:spPr>
          <a:xfrm>
            <a:off x="320040" y="868680"/>
            <a:ext cx="4160520" cy="2423160"/>
          </a:xfrm>
          <a:prstGeom prst="roundRect">
            <a:avLst>
              <a:gd name="adj" fmla="val 1887"/>
            </a:avLst>
          </a:prstGeom>
          <a:solidFill>
            <a:srgbClr val="F4F5FF"/>
          </a:solidFill>
          <a:ln w="19050">
            <a:solidFill>
              <a:srgbClr val="A9A5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D0796C4-35C6-1FFD-7F10-94DC9BDE5781}"/>
              </a:ext>
            </a:extLst>
          </p:cNvPr>
          <p:cNvSpPr/>
          <p:nvPr/>
        </p:nvSpPr>
        <p:spPr>
          <a:xfrm>
            <a:off x="320040" y="868680"/>
            <a:ext cx="41605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0BF"/>
                </a:solidFill>
              </a:rPr>
              <a:t>📎 </a:t>
            </a:r>
            <a:r>
              <a:rPr lang="ko-KR" altLang="en-US" sz="1100" dirty="0">
                <a:solidFill>
                  <a:srgbClr val="8880BF"/>
                </a:solidFill>
              </a:rPr>
              <a:t>이</a:t>
            </a:r>
            <a:r>
              <a:rPr lang="en-US" sz="1100" dirty="0" err="1">
                <a:solidFill>
                  <a:srgbClr val="8880BF"/>
                </a:solidFill>
              </a:rPr>
              <a:t>미지를</a:t>
            </a:r>
            <a:r>
              <a:rPr lang="en-US" sz="1100" dirty="0">
                <a:solidFill>
                  <a:srgbClr val="8880BF"/>
                </a:solidFill>
              </a:rPr>
              <a:t> 삽입해주세요</a:t>
            </a: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D87F39C-9B68-A0EF-340A-C07BBE1EEE8E}"/>
              </a:ext>
            </a:extLst>
          </p:cNvPr>
          <p:cNvSpPr/>
          <p:nvPr/>
        </p:nvSpPr>
        <p:spPr>
          <a:xfrm>
            <a:off x="320040" y="3396996"/>
            <a:ext cx="847344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350E1B5-EC3B-793E-D0DB-D990ED4B701A}"/>
              </a:ext>
            </a:extLst>
          </p:cNvPr>
          <p:cNvSpPr/>
          <p:nvPr/>
        </p:nvSpPr>
        <p:spPr>
          <a:xfrm>
            <a:off x="396240" y="33375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+mj-ea"/>
                <a:ea typeface="+mj-ea"/>
              </a:rPr>
              <a:t>🏠 배포된 프로젝트 주소</a:t>
            </a:r>
            <a:endParaRPr lang="en-US" sz="1100" dirty="0">
              <a:latin typeface="+mj-ea"/>
              <a:ea typeface="+mj-ea"/>
            </a:endParaRPr>
          </a:p>
        </p:txBody>
      </p:sp>
      <p:pic>
        <p:nvPicPr>
          <p:cNvPr id="18" name="그림 17" descr="스크린샷, 그래픽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8D6091-6CFB-070B-749C-00F222D73F1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2055" y="71503"/>
            <a:ext cx="1262372" cy="315593"/>
          </a:xfrm>
          <a:prstGeom prst="rect">
            <a:avLst/>
          </a:prstGeom>
        </p:spPr>
      </p:pic>
      <p:sp>
        <p:nvSpPr>
          <p:cNvPr id="19" name="Shape 14">
            <a:extLst>
              <a:ext uri="{FF2B5EF4-FFF2-40B4-BE49-F238E27FC236}">
                <a16:creationId xmlns:a16="http://schemas.microsoft.com/office/drawing/2014/main" id="{22D49C93-15A9-CAFA-D626-4CD68B6701C5}"/>
              </a:ext>
            </a:extLst>
          </p:cNvPr>
          <p:cNvSpPr/>
          <p:nvPr/>
        </p:nvSpPr>
        <p:spPr>
          <a:xfrm>
            <a:off x="320040" y="3758184"/>
            <a:ext cx="8503920" cy="1115568"/>
          </a:xfrm>
          <a:prstGeom prst="roundRect">
            <a:avLst>
              <a:gd name="adj" fmla="val 4098"/>
            </a:avLst>
          </a:prstGeom>
          <a:solidFill>
            <a:srgbClr val="EEF0FF"/>
          </a:solidFill>
          <a:ln w="12700">
            <a:solidFill>
              <a:srgbClr val="C5C3F0"/>
            </a:solidFill>
            <a:prstDash val="solid"/>
          </a:ln>
        </p:spPr>
        <p:txBody>
          <a:bodyPr/>
          <a:lstStyle/>
          <a:p>
            <a:endParaRPr lang="en-US" altLang="ko-KR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E24B562-39AB-0AF7-1F21-B267C3C3B44A}"/>
              </a:ext>
            </a:extLst>
          </p:cNvPr>
          <p:cNvSpPr/>
          <p:nvPr/>
        </p:nvSpPr>
        <p:spPr>
          <a:xfrm>
            <a:off x="441960" y="3850386"/>
            <a:ext cx="4069080" cy="547116"/>
          </a:xfrm>
          <a:prstGeom prst="rect">
            <a:avLst/>
          </a:prstGeom>
          <a:noFill/>
          <a:ln/>
        </p:spPr>
        <p:txBody>
          <a:bodyPr wrap="square" lIns="101600" tIns="127000" rIns="127000" bIns="0" rtlCol="0" anchor="t"/>
          <a:lstStyle/>
          <a:p>
            <a:pPr marL="0" indent="0">
              <a:buNone/>
            </a:pPr>
            <a:r>
              <a:rPr lang="ko-KR" altLang="en-US" sz="1000" i="1" dirty="0">
                <a:solidFill>
                  <a:srgbClr val="7870B0"/>
                </a:solidFill>
              </a:rPr>
              <a:t>배포된 프로젝트 주소를 입력해주세요</a:t>
            </a:r>
            <a:r>
              <a:rPr lang="en-US" altLang="ko-KR" sz="1000" i="1" dirty="0">
                <a:solidFill>
                  <a:srgbClr val="7870B0"/>
                </a:solidFill>
              </a:rPr>
              <a:t>.</a:t>
            </a:r>
          </a:p>
          <a:p>
            <a:pPr marL="0" indent="0">
              <a:buNone/>
            </a:pPr>
            <a:r>
              <a:rPr lang="ko-KR" altLang="en-US" sz="1000" i="1" dirty="0">
                <a:solidFill>
                  <a:srgbClr val="7870B0"/>
                </a:solidFill>
              </a:rPr>
              <a:t>예 </a:t>
            </a:r>
            <a:r>
              <a:rPr lang="en-US" altLang="ko-KR" sz="1000" i="1" dirty="0">
                <a:solidFill>
                  <a:srgbClr val="7870B0"/>
                </a:solidFill>
              </a:rPr>
              <a:t>:</a:t>
            </a:r>
            <a:r>
              <a:rPr lang="ko-KR" altLang="en-US" sz="1000" i="1" dirty="0">
                <a:solidFill>
                  <a:srgbClr val="7870B0"/>
                </a:solidFill>
              </a:rPr>
              <a:t> </a:t>
            </a:r>
            <a:r>
              <a:rPr lang="en-US" altLang="ko-KR" sz="1000" i="1" dirty="0">
                <a:solidFill>
                  <a:srgbClr val="7870B0"/>
                </a:solidFill>
              </a:rPr>
              <a:t>ai-needs-</a:t>
            </a:r>
            <a:r>
              <a:rPr lang="en-US" altLang="ko-KR" sz="1000" i="1" dirty="0" err="1">
                <a:solidFill>
                  <a:srgbClr val="7870B0"/>
                </a:solidFill>
              </a:rPr>
              <a:t>website.vercel.app</a:t>
            </a:r>
            <a:endParaRPr lang="en-US" sz="10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A417DDB8-DABC-74DF-284C-B379AB60CF96}"/>
              </a:ext>
            </a:extLst>
          </p:cNvPr>
          <p:cNvSpPr/>
          <p:nvPr/>
        </p:nvSpPr>
        <p:spPr>
          <a:xfrm>
            <a:off x="4663440" y="530352"/>
            <a:ext cx="4160520" cy="274320"/>
          </a:xfrm>
          <a:prstGeom prst="rect">
            <a:avLst/>
          </a:prstGeom>
          <a:solidFill>
            <a:srgbClr val="5B4FCF"/>
          </a:solidFill>
          <a:ln w="12700">
            <a:solidFill>
              <a:srgbClr val="5B4FC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990C356-A12B-F674-1DA3-5BD16738A8F1}"/>
              </a:ext>
            </a:extLst>
          </p:cNvPr>
          <p:cNvSpPr/>
          <p:nvPr/>
        </p:nvSpPr>
        <p:spPr>
          <a:xfrm>
            <a:off x="4739640" y="4922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152400" rIns="15240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+mj-ea"/>
                <a:ea typeface="+mj-ea"/>
              </a:rPr>
              <a:t>🆓</a:t>
            </a:r>
            <a:r>
              <a:rPr lang="en-US" sz="1100" b="1" dirty="0">
                <a:solidFill>
                  <a:srgbClr val="FFFFFF"/>
                </a:solidFill>
                <a:latin typeface="+mj-ea"/>
                <a:ea typeface="+mj-ea"/>
              </a:rPr>
              <a:t>  </a:t>
            </a:r>
            <a:r>
              <a:rPr lang="ko-KR" altLang="en-US" sz="1100" b="1" dirty="0">
                <a:solidFill>
                  <a:srgbClr val="FFFFFF"/>
                </a:solidFill>
                <a:latin typeface="+mj-ea"/>
                <a:ea typeface="+mj-ea"/>
              </a:rPr>
              <a:t>자유 공간</a:t>
            </a:r>
            <a:endParaRPr lang="en-US" sz="1100" dirty="0">
              <a:latin typeface="+mj-ea"/>
              <a:ea typeface="+mj-ea"/>
            </a:endParaRPr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53EBEE31-D9C7-CFE7-DED2-B8D30874BE77}"/>
              </a:ext>
            </a:extLst>
          </p:cNvPr>
          <p:cNvSpPr/>
          <p:nvPr/>
        </p:nvSpPr>
        <p:spPr>
          <a:xfrm>
            <a:off x="4663440" y="868680"/>
            <a:ext cx="4160520" cy="2423160"/>
          </a:xfrm>
          <a:prstGeom prst="roundRect">
            <a:avLst>
              <a:gd name="adj" fmla="val 1887"/>
            </a:avLst>
          </a:prstGeom>
          <a:solidFill>
            <a:srgbClr val="F4F5FF"/>
          </a:solidFill>
          <a:ln w="19050">
            <a:solidFill>
              <a:srgbClr val="A9A5E0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7AAA8149-6D0F-BC59-9FCA-2588B390FCE0}"/>
              </a:ext>
            </a:extLst>
          </p:cNvPr>
          <p:cNvSpPr/>
          <p:nvPr/>
        </p:nvSpPr>
        <p:spPr>
          <a:xfrm>
            <a:off x="4632960" y="882396"/>
            <a:ext cx="41605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100" dirty="0">
                <a:solidFill>
                  <a:srgbClr val="8880BF"/>
                </a:solidFill>
              </a:rPr>
              <a:t>앞에서 공간이 부족해 하지 못했던 이야기</a:t>
            </a:r>
            <a:r>
              <a:rPr lang="en-US" altLang="ko-KR" sz="1100" dirty="0">
                <a:solidFill>
                  <a:srgbClr val="8880BF"/>
                </a:solidFill>
              </a:rPr>
              <a:t>,</a:t>
            </a:r>
            <a:r>
              <a:rPr lang="ko-KR" altLang="en-US" sz="1100" dirty="0">
                <a:solidFill>
                  <a:srgbClr val="8880BF"/>
                </a:solidFill>
              </a:rPr>
              <a:t> </a:t>
            </a:r>
            <a:endParaRPr lang="en-US" altLang="ko-KR" sz="1100" dirty="0">
              <a:solidFill>
                <a:srgbClr val="8880BF"/>
              </a:solidFill>
            </a:endParaRPr>
          </a:p>
          <a:p>
            <a:pPr algn="ctr"/>
            <a:r>
              <a:rPr lang="ko-KR" altLang="en-US" sz="1100" dirty="0">
                <a:solidFill>
                  <a:srgbClr val="8880BF"/>
                </a:solidFill>
              </a:rPr>
              <a:t>목표</a:t>
            </a:r>
            <a:r>
              <a:rPr lang="en-US" altLang="ko-KR" sz="1100" dirty="0">
                <a:solidFill>
                  <a:srgbClr val="8880BF"/>
                </a:solidFill>
              </a:rPr>
              <a:t>,</a:t>
            </a:r>
            <a:r>
              <a:rPr lang="ko-KR" altLang="en-US" sz="1100" dirty="0">
                <a:solidFill>
                  <a:srgbClr val="8880BF"/>
                </a:solidFill>
              </a:rPr>
              <a:t> 건의사항 등 자유롭게 이용해주세요</a:t>
            </a:r>
            <a:r>
              <a:rPr lang="en-US" altLang="ko-KR" sz="1100" dirty="0">
                <a:solidFill>
                  <a:srgbClr val="8880BF"/>
                </a:solidFill>
              </a:rPr>
              <a:t>.</a:t>
            </a:r>
          </a:p>
          <a:p>
            <a:pPr marL="0" indent="0" algn="ctr">
              <a:buNone/>
            </a:pPr>
            <a:r>
              <a:rPr lang="ko-KR" altLang="en-US" sz="1100" dirty="0">
                <a:solidFill>
                  <a:srgbClr val="8880BF"/>
                </a:solidFill>
              </a:rPr>
              <a:t>공란으로 두어도 괜찮습니다</a:t>
            </a:r>
            <a:r>
              <a:rPr lang="en-US" altLang="ko-KR" sz="1100" dirty="0">
                <a:solidFill>
                  <a:srgbClr val="8880B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4161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338</Words>
  <Application>Microsoft Office PowerPoint</Application>
  <PresentationFormat>화면 슬라이드 쇼(16:9)</PresentationFormat>
  <Paragraphs>66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7</cp:revision>
  <dcterms:created xsi:type="dcterms:W3CDTF">2026-06-11T13:39:02Z</dcterms:created>
  <dcterms:modified xsi:type="dcterms:W3CDTF">2026-06-17T07:40:10Z</dcterms:modified>
</cp:coreProperties>
</file>